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05840"/>
            <a:ext cx="3200400" cy="3200400"/>
          </a:xfrm>
          <a:prstGeom prst="ellipse">
            <a:avLst/>
          </a:prstGeom>
          <a:solidFill>
            <a:srgbClr val="E8762B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754880"/>
            <a:ext cx="2468880" cy="2468880"/>
          </a:xfrm>
          <a:prstGeom prst="ellipse">
            <a:avLst/>
          </a:prstGeom>
          <a:solidFill>
            <a:srgbClr val="F2A34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Q-Commerce Pricing &amp;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Experimentation Engine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49808" y="3794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2A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promote with evidence, not guesswork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Data-science project  ·  synthetic UAE q-commerce data  ·  Akanksha Swarnim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 to the business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Q-commerce wins orders with discounts and promos — but do they actually make money?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926080"/>
            <a:ext cx="5760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AEB6C6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3090672"/>
            <a:ext cx="274320" cy="274320"/>
          </a:xfrm>
          <a:prstGeom prst="ellipse">
            <a:avLst/>
          </a:prstGeom>
          <a:solidFill>
            <a:srgbClr val="E8762B"/>
          </a:solidFill>
          <a:ln/>
        </p:spPr>
      </p:sp>
      <p:sp>
        <p:nvSpPr>
          <p:cNvPr id="7" name="Text 5"/>
          <p:cNvSpPr/>
          <p:nvPr/>
        </p:nvSpPr>
        <p:spPr>
          <a:xfrm>
            <a:off x="1170432" y="292608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margins  </a:t>
            </a:r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discount point hurts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5760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90320000" dist="483870000" dir="324000000000">
              <a:srgbClr val="AEB6C6">
                <a:alpha val="35000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3803904"/>
            <a:ext cx="274320" cy="274320"/>
          </a:xfrm>
          <a:prstGeom prst="ellipse">
            <a:avLst/>
          </a:prstGeom>
          <a:solidFill>
            <a:srgbClr val="E8762B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363931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Promos are costly  </a:t>
            </a:r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must pay for itself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352544"/>
            <a:ext cx="5760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6387064000000" dist="6145149000000" dir="19440000000000000">
              <a:srgbClr val="AEB6C6">
                <a:alpha val="35000000000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4517136"/>
            <a:ext cx="274320" cy="274320"/>
          </a:xfrm>
          <a:prstGeom prst="ellipse">
            <a:avLst/>
          </a:prstGeom>
          <a:solidFill>
            <a:srgbClr val="E876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35254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A/Bs mislead  </a:t>
            </a:r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reads can flip the truth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065776"/>
            <a:ext cx="57607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8115712800000000" dist="78043392300000000" dir="1.1664e+21">
              <a:srgbClr val="AEB6C6">
                <a:alpha val="350000000000000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5230368"/>
            <a:ext cx="274320" cy="274320"/>
          </a:xfrm>
          <a:prstGeom prst="ellipse">
            <a:avLst/>
          </a:prstGeom>
          <a:solidFill>
            <a:srgbClr val="E876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70432" y="506577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differ  </a:t>
            </a:r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price doesn't fit all</a:t>
            </a:r>
            <a:endParaRPr lang="en-US" sz="1400" dirty="0"/>
          </a:p>
        </p:txBody>
      </p:sp>
      <p:pic>
        <p:nvPicPr>
          <p:cNvPr id="17" name="Image 0" descr="/home/claude/qcommerce-pricing-experimentation-engine/deck_assets/01_elasticity_by_segment.png">    </p:cNvPr>
          <p:cNvPicPr>
            <a:picLocks noChangeAspect="1"/>
          </p:cNvPicPr>
          <p:nvPr/>
        </p:nvPicPr>
        <p:blipFill>
          <a:blip r:embed="rId1"/>
          <a:srcRect l="-19231" r="-19231" t="0" b="0"/>
          <a:stretch/>
        </p:blipFill>
        <p:spPr>
          <a:xfrm>
            <a:off x="6675120" y="1737360"/>
            <a:ext cx="4937760" cy="35661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675120" y="5349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does respond to price — the question is by how much, and for whom.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questions, answered with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265176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64306955256e+21" dist="991151082210000000000" dir="6.9984e+25">
              <a:srgbClr val="AEB6C6">
                <a:alpha val="3.5e+2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price elasticity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9080" y="3493008"/>
            <a:ext cx="713232" cy="0"/>
          </a:xfrm>
          <a:prstGeom prst="line">
            <a:avLst/>
          </a:prstGeom>
          <a:noFill/>
          <a:ln w="31750">
            <a:solidFill>
              <a:srgbClr val="E8762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846320" y="265176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3.3566983317512e+25" dist="1.2587618744067e+25" dir="4.19904e+30">
              <a:srgbClr val="AEB6C6">
                <a:alpha val="3.5000000000000005e+29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A/Bs correctly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909560" y="3493008"/>
            <a:ext cx="713232" cy="0"/>
          </a:xfrm>
          <a:prstGeom prst="line">
            <a:avLst/>
          </a:prstGeom>
          <a:noFill/>
          <a:ln w="31750">
            <a:solidFill>
              <a:srgbClr val="E8762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0" y="2651760"/>
            <a:ext cx="30175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2630068813240236e+29" dist="1.598627580496509e+29" dir="2.519424e+35">
              <a:srgbClr val="AEB6C6">
                <a:alpha val="3.5000000000000004e+34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0" y="29718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86968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margin, by segment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“did the promo work?” to “what pricing makes the most margin?”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41401873928151e+33" dist="2.0302570272305663e+33" dir="1.5116544e+40">
              <a:srgbClr val="AEB6C6">
                <a:alpha val="3.5e+39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9888" y="2907792"/>
            <a:ext cx="420624" cy="42062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1389888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401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orders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segment, zone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670048" y="3419856"/>
            <a:ext cx="146304" cy="0"/>
          </a:xfrm>
          <a:prstGeom prst="line">
            <a:avLst/>
          </a:prstGeom>
          <a:noFill/>
          <a:ln w="25400">
            <a:solidFill>
              <a:srgbClr val="E8762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34640" y="27432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875803798887518e+37" dist="2.578426424582819e+37" dir="9.069926400000001e+44">
              <a:srgbClr val="AEB6C6">
                <a:alpha val="3.5000000000000003e+4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75888" y="2907792"/>
            <a:ext cx="420624" cy="42062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3675888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926080" y="3401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demand reacts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56048" y="3419856"/>
            <a:ext cx="146304" cy="0"/>
          </a:xfrm>
          <a:prstGeom prst="line">
            <a:avLst/>
          </a:prstGeom>
          <a:noFill/>
          <a:ln w="25400">
            <a:solidFill>
              <a:srgbClr val="E8762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120640" y="27432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.732270824587148e+41" dist="3.2746015592201804e+41" dir="5.44195584e+49">
              <a:srgbClr val="AEB6C6">
                <a:alpha val="3.5000000000000003e+4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61888" y="2907792"/>
            <a:ext cx="420624" cy="42062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5961888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12080" y="3401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(A/B)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12080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+ CUPED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242048" y="3419856"/>
            <a:ext cx="146304" cy="0"/>
          </a:xfrm>
          <a:prstGeom prst="line">
            <a:avLst/>
          </a:prstGeom>
          <a:noFill/>
          <a:ln w="25400">
            <a:solidFill>
              <a:srgbClr val="E8762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06640" y="27432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1089983947225678e+46" dist="4.158743980209629e+45" dir="3.2651735040000005e+54">
              <a:srgbClr val="AEB6C6">
                <a:alpha val="3.5e+54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47888" y="2907792"/>
            <a:ext cx="420624" cy="42062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8247888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0" y="3401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guardrail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0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discount worth it?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28048" y="3419856"/>
            <a:ext cx="146304" cy="0"/>
          </a:xfrm>
          <a:prstGeom prst="line">
            <a:avLst/>
          </a:prstGeom>
          <a:noFill/>
          <a:ln w="25400">
            <a:solidFill>
              <a:srgbClr val="E8762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92640" y="274320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408427961297661e+50" dist="5.281604854866228e+49" dir="1.9591041024000004e+59">
              <a:srgbClr val="AEB6C6">
                <a:alpha val="3.5e+59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533888" y="2907792"/>
            <a:ext cx="420624" cy="420624"/>
          </a:xfrm>
          <a:prstGeom prst="ellipse">
            <a:avLst/>
          </a:prstGeom>
          <a:solidFill>
            <a:srgbClr val="E8762B"/>
          </a:solidFill>
          <a:ln/>
        </p:spPr>
      </p:sp>
      <p:sp>
        <p:nvSpPr>
          <p:cNvPr id="30" name="Text 28"/>
          <p:cNvSpPr/>
          <p:nvPr/>
        </p:nvSpPr>
        <p:spPr>
          <a:xfrm>
            <a:off x="10533888" y="2907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784080" y="3401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policy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84080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action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937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orders → a pricing decision the business can act on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Approach, models &amp;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science,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7887035108480297e+54" dist="6.70763816568011e+53" dir="1.1754624614400003e+64">
              <a:srgbClr val="AEB6C6">
                <a:alpha val="3.5000000000000004e+6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Logit on log-price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538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elasticity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10712" y="17830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2716534587769977e+58" dist="8.518700470413739e+57" dir="7.052774768640002e+68">
              <a:srgbClr val="AEB6C6">
                <a:alpha val="3.500000000000001e+6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01168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A/B + stratification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11880" y="3538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Simpson-safe, CUPED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2784" y="17830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8849998926467873e+62" dist="1.081874959742545e+62" dir="4.2316648611840007e+73">
              <a:srgbClr val="AEB6C6">
                <a:alpha val="3.5000000000000006e+7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201168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6501384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73952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curves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73952" y="3538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discount / segment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34856" y="1783080"/>
            <a:ext cx="26060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66394986366142e+66" dist="1.373981198873032e+66" dir="2.5389989167104004e+78">
              <a:srgbClr val="AEB6C6">
                <a:alpha val="3.5000000000000005e+7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63456" y="2011680"/>
            <a:ext cx="502920" cy="50292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336024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336024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DGP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36024" y="3538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elasticity &amp; zones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520086" y="5074920"/>
            <a:ext cx="1007669" cy="457200"/>
          </a:xfrm>
          <a:prstGeom prst="roundRect">
            <a:avLst>
              <a:gd name="adj" fmla="val 50000"/>
            </a:avLst>
          </a:prstGeom>
          <a:solidFill>
            <a:srgbClr val="E4EAF4"/>
          </a:solidFill>
          <a:ln/>
        </p:spPr>
      </p:sp>
      <p:sp>
        <p:nvSpPr>
          <p:cNvPr id="30" name="Text 28"/>
          <p:cNvSpPr/>
          <p:nvPr/>
        </p:nvSpPr>
        <p:spPr>
          <a:xfrm>
            <a:off x="2520086" y="5074920"/>
            <a:ext cx="1007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92347" y="5074920"/>
            <a:ext cx="1007669" cy="457200"/>
          </a:xfrm>
          <a:prstGeom prst="roundRect">
            <a:avLst>
              <a:gd name="adj" fmla="val 50000"/>
            </a:avLst>
          </a:prstGeom>
          <a:solidFill>
            <a:srgbClr val="E4EAF4"/>
          </a:solidFill>
          <a:ln/>
        </p:spPr>
      </p:sp>
      <p:sp>
        <p:nvSpPr>
          <p:cNvPr id="32" name="Text 30"/>
          <p:cNvSpPr/>
          <p:nvPr/>
        </p:nvSpPr>
        <p:spPr>
          <a:xfrm>
            <a:off x="3692347" y="5074920"/>
            <a:ext cx="1007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64608" y="5074920"/>
            <a:ext cx="923544" cy="457200"/>
          </a:xfrm>
          <a:prstGeom prst="roundRect">
            <a:avLst>
              <a:gd name="adj" fmla="val 50000"/>
            </a:avLst>
          </a:prstGeom>
          <a:solidFill>
            <a:srgbClr val="E4EAF4"/>
          </a:solidFill>
          <a:ln/>
        </p:spPr>
      </p:sp>
      <p:sp>
        <p:nvSpPr>
          <p:cNvPr id="34" name="Text 32"/>
          <p:cNvSpPr/>
          <p:nvPr/>
        </p:nvSpPr>
        <p:spPr>
          <a:xfrm>
            <a:off x="4864608" y="5074920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952744" y="5074920"/>
            <a:ext cx="923544" cy="457200"/>
          </a:xfrm>
          <a:prstGeom prst="roundRect">
            <a:avLst>
              <a:gd name="adj" fmla="val 50000"/>
            </a:avLst>
          </a:prstGeom>
          <a:solidFill>
            <a:srgbClr val="E4EAF4"/>
          </a:solidFill>
          <a:ln/>
        </p:spPr>
      </p:sp>
      <p:sp>
        <p:nvSpPr>
          <p:cNvPr id="36" name="Text 34"/>
          <p:cNvSpPr/>
          <p:nvPr/>
        </p:nvSpPr>
        <p:spPr>
          <a:xfrm>
            <a:off x="5952744" y="5074920"/>
            <a:ext cx="923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040880" y="5074920"/>
            <a:ext cx="1428293" cy="457200"/>
          </a:xfrm>
          <a:prstGeom prst="roundRect">
            <a:avLst>
              <a:gd name="adj" fmla="val 50000"/>
            </a:avLst>
          </a:prstGeom>
          <a:solidFill>
            <a:srgbClr val="E4EAF4"/>
          </a:solidFill>
          <a:ln/>
        </p:spPr>
      </p:sp>
      <p:sp>
        <p:nvSpPr>
          <p:cNvPr id="38" name="Text 36"/>
          <p:cNvSpPr/>
          <p:nvPr/>
        </p:nvSpPr>
        <p:spPr>
          <a:xfrm>
            <a:off x="7040880" y="5074920"/>
            <a:ext cx="142829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statsmodels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633765" y="5074920"/>
            <a:ext cx="1007669" cy="457200"/>
          </a:xfrm>
          <a:prstGeom prst="roundRect">
            <a:avLst>
              <a:gd name="adj" fmla="val 50000"/>
            </a:avLst>
          </a:prstGeom>
          <a:solidFill>
            <a:srgbClr val="E4EAF4"/>
          </a:solidFill>
          <a:ln/>
        </p:spPr>
      </p:sp>
      <p:sp>
        <p:nvSpPr>
          <p:cNvPr id="40" name="Text 38"/>
          <p:cNvSpPr/>
          <p:nvPr/>
        </p:nvSpPr>
        <p:spPr>
          <a:xfrm>
            <a:off x="8633765" y="5074920"/>
            <a:ext cx="1007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data-science decisions &amp; why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Judgment, not just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653216326850003e+70" dist="1.7449561225687507e+70" dir="1.5233993500262402e+83">
              <a:srgbClr val="AEB6C6">
                <a:alpha val="3.5000000000000003e+8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2029968"/>
            <a:ext cx="201168" cy="201168"/>
          </a:xfrm>
          <a:prstGeom prst="ellipse">
            <a:avLst/>
          </a:prstGeom>
          <a:solidFill>
            <a:srgbClr val="E8762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737360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as a logit on log-price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92040" y="173736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40680" y="1737360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an elasticity leadership can act on, not a black box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909584735099504e+74" dist="2.2160942756623134e+74" dir="9.14039610015744e+87">
              <a:srgbClr val="AEB6C6">
                <a:alpha val="3.5e+89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944368"/>
            <a:ext cx="201168" cy="201168"/>
          </a:xfrm>
          <a:prstGeom prst="ellipse">
            <a:avLst/>
          </a:prstGeom>
          <a:solidFill>
            <a:srgbClr val="E8762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651760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the A/B by zone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65176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40680" y="2651760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was imbalanced — the average lied (Simpson's paradox)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56616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.50517261357637e+78" dist="2.814439730091138e+78" dir="5.484237660094465e+92">
              <a:srgbClr val="AEB6C6">
                <a:alpha val="3.5e+94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858768"/>
            <a:ext cx="201168" cy="201168"/>
          </a:xfrm>
          <a:prstGeom prst="ellipse">
            <a:avLst/>
          </a:prstGeom>
          <a:solidFill>
            <a:srgbClr val="E8762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566160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CUPED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92040" y="356616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40680" y="3566160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variance ~5% so smaller true effects show up sooner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.53156921924199e+82" dist="3.574338457215745e+82" dir="3.2905425960566786e+97">
              <a:srgbClr val="AEB6C6">
                <a:alpha val="3.5e+99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773168"/>
            <a:ext cx="201168" cy="201168"/>
          </a:xfrm>
          <a:prstGeom prst="ellipse">
            <a:avLst/>
          </a:prstGeom>
          <a:solidFill>
            <a:srgbClr val="E8762B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480560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Optimised margin, not conversion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448056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40680" y="4480560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conversion lift can still lose money; the P&amp;L is what matters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2105092908437327e+87" dist="4.539409840663996e+86" dir="1.9743255576340073e+102">
              <a:srgbClr val="AEB6C6">
                <a:alpha val="3.4999999999999995e+10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8368" y="5687568"/>
            <a:ext cx="201168" cy="201168"/>
          </a:xfrm>
          <a:prstGeom prst="ellipse">
            <a:avLst/>
          </a:prstGeom>
          <a:solidFill>
            <a:srgbClr val="E8762B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5394960"/>
            <a:ext cx="3886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guardrail at break-even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5394960"/>
            <a:ext cx="4572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40680" y="5394960"/>
            <a:ext cx="5897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recommend a promo that gives away more than it earns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experiments correctly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 that flips a result</a:t>
            </a:r>
            <a:endParaRPr lang="en-US" sz="1400" dirty="0"/>
          </a:p>
        </p:txBody>
      </p:sp>
      <p:pic>
        <p:nvPicPr>
          <p:cNvPr id="4" name="Image 0" descr="/home/claude/qcommerce-pricing-experimentation-engine/deck_assets/02_simpsons_paradox.png">    </p:cNvPr>
          <p:cNvPicPr>
            <a:picLocks noChangeAspect="1"/>
          </p:cNvPicPr>
          <p:nvPr/>
        </p:nvPicPr>
        <p:blipFill>
          <a:blip r:embed="rId1"/>
          <a:srcRect l="-32927" r="-32927" t="0" b="0"/>
          <a:stretch/>
        </p:blipFill>
        <p:spPr>
          <a:xfrm>
            <a:off x="640080" y="1737360"/>
            <a:ext cx="62179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2011680"/>
            <a:ext cx="43891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5373467993715405e+91" dist="5.765050497643275e+90" dir="1.1845953345804043e+107">
              <a:srgbClr val="AEB6C6">
                <a:alpha val="3.4999999999999994e+109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0" y="22860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data, opposite stories.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498080" y="297180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B2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read:  -0.09pp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promo did nothing”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by zone:  +4.46pp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actually works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helps the business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method to money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.9524304352018566e+95" dist="7.321614132006959e+94" dir="7.107572007482426e+111">
              <a:srgbClr val="AEB6C6">
                <a:alpha val="3.4999999999999995e+114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+AED 2.0M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 margin upside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6916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4795866527063578e+99" dist="9.298449947648839e+98" dir="4.2645432044894554e+116">
              <a:srgbClr val="AEB6C6">
                <a:alpha val="3.499999999999999e+11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25112" y="19202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7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8.85 → 10.87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62272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per order (AED)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1584" y="1691640"/>
            <a:ext cx="3520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149075048937074e+103" dist="1.1809031433514024e+103" dir="2.5587259226936733e+121">
              <a:srgbClr val="AEB6C6">
                <a:alpha val="3.499999999999999e+12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19202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7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+4.46pp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38744" y="27432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promo lift, uncovered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84048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it enables:</a:t>
            </a:r>
            <a:endParaRPr lang="en-US" sz="1600" dirty="0"/>
          </a:p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blanket discounts that quietly erode margin</a:t>
            </a:r>
            <a:endParaRPr lang="en-US" sz="1600" dirty="0"/>
          </a:p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experiments — stratified reads, not misleading averages</a:t>
            </a:r>
            <a:endParaRPr lang="en-US" sz="1600" dirty="0"/>
          </a:p>
          <a:p>
            <a:pPr marL="228600" indent="-2286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price/promo per segment and zone, where it pays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engine found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9993253121500844e+107" dist="1.499746992056281e+107" dir="1.535235553616204e+126">
              <a:srgbClr val="AEB6C6">
                <a:alpha val="3.499999999999999e+129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317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-0.78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58368" y="3200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elasticity (inelastic)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.079143146430607e+111" dist="1.904678679911477e+111" dir="9.211413321697224e+130">
              <a:srgbClr val="AEB6C6">
                <a:alpha val="3.4999999999999992e+134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3317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+4.46pp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493008" y="3200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promo lift (stratified)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.450511795966871e+115" dist="2.418941923487576e+115" dir="5.526847993018334e+135">
              <a:srgbClr val="AEB6C6">
                <a:alpha val="3.499999999999999e+139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3317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27648" y="3200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CUPED variance cut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52560" y="210312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E8762B"/>
          </a:solidFill>
          <a:ln/>
          <a:effectLst>
            <a:outerShdw sx="100000" sy="100000" kx="0" ky="0" algn="bl" rotWithShape="0" blurRad="8.192149980877925e+119" dist="3.0720562428292216e+119" dir="3.3161087958110005e+140">
              <a:srgbClr val="AEB6C6">
                <a:alpha val="3.499999999999999e+144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52560" y="23317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+AED 2.0M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162288" y="3200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1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margin upside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6634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fairly inelastic — so discounts mostly give away margin. The engine quantifies exactly when they don't.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 insight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≠ profit</a:t>
            </a:r>
            <a:endParaRPr lang="en-US" sz="1400" dirty="0"/>
          </a:p>
        </p:txBody>
      </p:sp>
      <p:pic>
        <p:nvPicPr>
          <p:cNvPr id="4" name="Image 0" descr="/home/claude/qcommerce-pricing-experimentation-engine/deck_assets/03_margin_guardrail.png">    </p:cNvPr>
          <p:cNvPicPr>
            <a:picLocks noChangeAspect="1"/>
          </p:cNvPicPr>
          <p:nvPr/>
        </p:nvPicPr>
        <p:blipFill>
          <a:blip r:embed="rId1"/>
          <a:srcRect l="-32927" r="-32927" t="0" b="0"/>
          <a:stretch/>
        </p:blipFill>
        <p:spPr>
          <a:xfrm>
            <a:off x="640080" y="1737360"/>
            <a:ext cx="621792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2011680"/>
            <a:ext cx="438912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0404030475714965e+124" dist="3.9015114283931116e+123" dir="1.9896652774866004e+145">
              <a:srgbClr val="AEB6C6">
                <a:alpha val="3.499999999999999e+149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98080" y="22860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Discounts lift orders — and still lose money.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498080" y="32004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per order falls at every discount depth.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discount = 0%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segment here — disciplined pricing beats blanket promos.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 &amp; guardrails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7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answer holds up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3213118704158005e+128" dist="4.954919514059251e+127" dir="1.1937991664919603e+150">
              <a:srgbClr val="AEB6C6">
                <a:alpha val="3.499999999999999e+154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00253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Simpson's paradox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6243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 by zone before reading any A/B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.6780660754280665e+132" dist="6.2927477828552495e+131" dir="7.162794998951762e+154">
              <a:srgbClr val="AEB6C6">
                <a:alpha val="3.499999999999999e+15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81144" y="203911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5193792" y="200253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CUPED variance cut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26243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smaller true effects sooner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78308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1311439157936445e+136" dist="7.991789684226167e+135" dir="4.297676999371057e+159">
              <a:srgbClr val="AEB6C6">
                <a:alpha val="3.499999999999999e+16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57616" y="203911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8970264" y="200253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guardrail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75904" y="262432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recommend a money-losing discount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.7065527730579285e+140" dist="1.0149572898967231e+140" dir="2.5786061996226343e+164">
              <a:srgbClr val="AEB6C6">
                <a:alpha val="3.4999999999999995e+16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91363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8" name="Text 16"/>
          <p:cNvSpPr/>
          <p:nvPr/>
        </p:nvSpPr>
        <p:spPr>
          <a:xfrm>
            <a:off x="1417320" y="38770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&amp; zone mix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" y="44988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uneven allocation handled explicitly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25112" y="36576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.4373220217835694e+144" dist="1.2889957581688384e+144" dir="1.5471637197735807e+169">
              <a:srgbClr val="AEB6C6">
                <a:alpha val="3.4999999999999997e+174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81144" y="391363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2" name="Text 20"/>
          <p:cNvSpPr/>
          <p:nvPr/>
        </p:nvSpPr>
        <p:spPr>
          <a:xfrm>
            <a:off x="5193792" y="38770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Inelastic-demand check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99432" y="44988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is weighed against margin given up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01584" y="3657600"/>
            <a:ext cx="35204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4.3653989676651333e+148" dist="1.6370246128744248e+148" dir="9.282982318641485e+173">
              <a:srgbClr val="AEB6C6">
                <a:alpha val="3.4999999999999996e+179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357616" y="3913632"/>
            <a:ext cx="457200" cy="45720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6" name="Text 24"/>
          <p:cNvSpPr/>
          <p:nvPr/>
        </p:nvSpPr>
        <p:spPr>
          <a:xfrm>
            <a:off x="8970264" y="387705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75904" y="449884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seed → identical results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663440"/>
            <a:ext cx="3017520" cy="3017520"/>
          </a:xfrm>
          <a:prstGeom prst="ellipse">
            <a:avLst/>
          </a:prstGeom>
          <a:solidFill>
            <a:srgbClr val="E8762B">
              <a:alpha val="2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proves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23774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Experimentation done right — A/B, CUPED, Simpson's-paradox detection</a:t>
            </a:r>
            <a:endParaRPr lang="en-US" sz="2000" dirty="0"/>
          </a:p>
          <a:p>
            <a:pPr marL="228600" indent="-2286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science tied to margin, not vanity metrics</a:t>
            </a:r>
            <a:endParaRPr lang="en-US" sz="2000" dirty="0"/>
          </a:p>
          <a:p>
            <a:pPr marL="228600" indent="-228600">
              <a:lnSpc>
                <a:spcPct val="140000"/>
              </a:lnSpc>
              <a:buSzPct val="100000"/>
              <a:buChar char="•"/>
            </a:pPr>
            <a:r>
              <a:rPr lang="en-US" sz="2000" dirty="0">
                <a:solidFill>
                  <a:srgbClr val="E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business impact: ~AED 2.0M / month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2A3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and promote with evidence, not guesswork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Q-Commerce Pricing &amp; Experimentation Engine</dc:title>
  <dc:subject>PptxGenJS Presentation</dc:subject>
  <dc:creator>Akanksha Swarnim</dc:creator>
  <cp:lastModifiedBy>Akanksha Swarnim</cp:lastModifiedBy>
  <cp:revision>1</cp:revision>
  <dcterms:created xsi:type="dcterms:W3CDTF">2026-06-20T14:14:46Z</dcterms:created>
  <dcterms:modified xsi:type="dcterms:W3CDTF">2026-06-20T14:14:46Z</dcterms:modified>
</cp:coreProperties>
</file>